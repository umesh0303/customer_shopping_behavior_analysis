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insights from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product categories to guide strategic business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9163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63179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3,900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1620962" y="194384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5464" y="1263179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5762848" y="194384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3577" y="2537817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$59.76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1620962" y="321848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Avg. Spend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5464" y="2537817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3.75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5762848" y="321848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Avg. Rating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23577" y="3606701"/>
            <a:ext cx="2599209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673150" y="375627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3150" y="4065984"/>
            <a:ext cx="230006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Age, Gender, Location, Subscription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72358" y="3606701"/>
            <a:ext cx="2599209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5" name="Text 13"/>
          <p:cNvSpPr/>
          <p:nvPr/>
        </p:nvSpPr>
        <p:spPr>
          <a:xfrm>
            <a:off x="3421931" y="375627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21931" y="4065984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Category, Amount, Season, Size, Color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21139" y="3606701"/>
            <a:ext cx="2599283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8" name="Text 16"/>
          <p:cNvSpPr/>
          <p:nvPr/>
        </p:nvSpPr>
        <p:spPr>
          <a:xfrm>
            <a:off x="6170712" y="375627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Behavior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70712" y="4065984"/>
            <a:ext cx="23001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Discounts, Frequency, Ratings, Shipping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367" y="348630"/>
            <a:ext cx="3267521" cy="323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Preparation in Python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67" y="1506364"/>
            <a:ext cx="4544020" cy="2574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21189" y="883444"/>
            <a:ext cx="219670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821189" y="1055861"/>
            <a:ext cx="2323058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6" name="Text 3"/>
          <p:cNvSpPr/>
          <p:nvPr/>
        </p:nvSpPr>
        <p:spPr>
          <a:xfrm>
            <a:off x="5821189" y="1139354"/>
            <a:ext cx="12925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&amp; Explore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21189" y="1381571"/>
            <a:ext cx="2323058" cy="32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Imported with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used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21189" y="1868314"/>
            <a:ext cx="219670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821189" y="2040731"/>
            <a:ext cx="2323058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0" name="Text 7"/>
          <p:cNvSpPr/>
          <p:nvPr/>
        </p:nvSpPr>
        <p:spPr>
          <a:xfrm>
            <a:off x="5821189" y="2124224"/>
            <a:ext cx="12925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 &amp; Impute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21189" y="2366442"/>
            <a:ext cx="2323058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Filled 37 missing Review Ratings with category median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21189" y="2834134"/>
            <a:ext cx="219670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21189" y="3006551"/>
            <a:ext cx="2323058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4" name="Text 11"/>
          <p:cNvSpPr/>
          <p:nvPr/>
        </p:nvSpPr>
        <p:spPr>
          <a:xfrm>
            <a:off x="5821189" y="3090044"/>
            <a:ext cx="12925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21189" y="3332262"/>
            <a:ext cx="2323058" cy="32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columns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821189" y="3819004"/>
            <a:ext cx="219670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21189" y="3991421"/>
            <a:ext cx="2323058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8" name="Text 15"/>
          <p:cNvSpPr/>
          <p:nvPr/>
        </p:nvSpPr>
        <p:spPr>
          <a:xfrm>
            <a:off x="5821189" y="4074914"/>
            <a:ext cx="12925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to PostgreSQL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21189" y="4317132"/>
            <a:ext cx="2323058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Cleaned DataFrame exported to database for SQL analysis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88814"/>
            <a:ext cx="505442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 &amp; Shipping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21433"/>
            <a:ext cx="3865959" cy="2164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802755"/>
            <a:ext cx="236837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Shipping Type vs. Avg. Spend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59226" y="2190973"/>
            <a:ext cx="1858194" cy="946175"/>
          </a:xfrm>
          <a:prstGeom prst="roundRect">
            <a:avLst>
              <a:gd name="adj" fmla="val 2372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27848" y="2359596"/>
            <a:ext cx="15209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Standard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27848" y="2729136"/>
            <a:ext cx="15209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$58.46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avg. purchase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992" y="2190973"/>
            <a:ext cx="1858194" cy="946175"/>
          </a:xfrm>
          <a:prstGeom prst="roundRect">
            <a:avLst>
              <a:gd name="adj" fmla="val 2372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35614" y="2359596"/>
            <a:ext cx="15209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Express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35614" y="2729136"/>
            <a:ext cx="15209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$60.48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avg. purchase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59226" y="3305398"/>
            <a:ext cx="3865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shipping users spend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~$2 more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 transaction.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84671"/>
            <a:ext cx="570979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Products by Rating &amp; Discount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9861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Highest Rated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1786830"/>
            <a:ext cx="3865959" cy="2603748"/>
          </a:xfrm>
          <a:prstGeom prst="roundRect">
            <a:avLst>
              <a:gd name="adj" fmla="val 86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7912" y="1886099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06129" y="1886099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7912" y="2319263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129" y="2319263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7912" y="2752427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129" y="2752427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7912" y="3185592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129" y="3185592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7912" y="3618756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06129" y="3618756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7912" y="4051920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129" y="4051920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3.78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9226" y="1398612"/>
            <a:ext cx="2185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Most Discount-Dependent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59226" y="1786830"/>
            <a:ext cx="3865959" cy="2603748"/>
          </a:xfrm>
          <a:prstGeom prst="roundRect">
            <a:avLst>
              <a:gd name="adj" fmla="val 86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3561" y="1886099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41778" y="1886099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 Rate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3561" y="2319263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41778" y="2319263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50.00%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13561" y="2752427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Sneakers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41778" y="2752427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49.66%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13561" y="3185592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Coat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41778" y="3185592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49.07%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13561" y="3618756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Sweater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41778" y="3618756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48.17%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13561" y="4051920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41778" y="4051920"/>
            <a:ext cx="16290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47.37%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55402"/>
            <a:ext cx="31735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2093" y="181533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Segment Breakdown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722093" y="2097509"/>
            <a:ext cx="1815405" cy="679996"/>
          </a:xfrm>
          <a:prstGeom prst="roundRect">
            <a:avLst>
              <a:gd name="adj" fmla="val 2630"/>
            </a:avLst>
          </a:prstGeom>
          <a:solidFill>
            <a:srgbClr val="F3E7D4"/>
          </a:solidFill>
          <a:ln/>
        </p:spPr>
      </p:sp>
      <p:sp>
        <p:nvSpPr>
          <p:cNvPr id="7" name="Text 3"/>
          <p:cNvSpPr/>
          <p:nvPr/>
        </p:nvSpPr>
        <p:spPr>
          <a:xfrm>
            <a:off x="4841304" y="221672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841304" y="2486992"/>
            <a:ext cx="1576983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3,116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customers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632451" y="2097509"/>
            <a:ext cx="1815405" cy="679996"/>
          </a:xfrm>
          <a:prstGeom prst="roundRect">
            <a:avLst>
              <a:gd name="adj" fmla="val 2630"/>
            </a:avLst>
          </a:prstGeom>
          <a:solidFill>
            <a:srgbClr val="F3E7D4"/>
          </a:solidFill>
          <a:ln/>
        </p:spPr>
      </p:sp>
      <p:sp>
        <p:nvSpPr>
          <p:cNvPr id="10" name="Text 6"/>
          <p:cNvSpPr/>
          <p:nvPr/>
        </p:nvSpPr>
        <p:spPr>
          <a:xfrm>
            <a:off x="6751662" y="221672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751662" y="2486992"/>
            <a:ext cx="1576983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701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customers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22093" y="2872457"/>
            <a:ext cx="3725763" cy="679996"/>
          </a:xfrm>
          <a:prstGeom prst="roundRect">
            <a:avLst>
              <a:gd name="adj" fmla="val 2630"/>
            </a:avLst>
          </a:prstGeom>
          <a:solidFill>
            <a:srgbClr val="F3E7D4"/>
          </a:solidFill>
          <a:ln/>
        </p:spPr>
      </p:sp>
      <p:sp>
        <p:nvSpPr>
          <p:cNvPr id="13" name="Text 9"/>
          <p:cNvSpPr/>
          <p:nvPr/>
        </p:nvSpPr>
        <p:spPr>
          <a:xfrm>
            <a:off x="4841304" y="2991669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41304" y="3261940"/>
            <a:ext cx="348734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customers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722093" y="3659312"/>
            <a:ext cx="3725763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 buyers (&gt;5 purchases):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958 subscribed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vs. 2,518 non-subscribed.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425872"/>
            <a:ext cx="5064472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vs. Non-Subscribers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615976" y="2043857"/>
            <a:ext cx="1753939" cy="356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27%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541" y="1152674"/>
            <a:ext cx="2138958" cy="21389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4225" y="3463156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9095" y="3754264"/>
            <a:ext cx="398792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1,053 customers · $62,645 total revenue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73862" y="2043857"/>
            <a:ext cx="1753939" cy="356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73%</a:t>
            </a:r>
            <a:endParaRPr lang="en-US" sz="2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427" y="1152674"/>
            <a:ext cx="2138958" cy="21389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12110" y="3463156"/>
            <a:ext cx="16775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Non-Subscribers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656906" y="3754264"/>
            <a:ext cx="3987998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2,847 customers · $170,436 total revenue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99095" y="4129832"/>
            <a:ext cx="8145810" cy="587797"/>
          </a:xfrm>
          <a:prstGeom prst="roundRect">
            <a:avLst>
              <a:gd name="adj" fmla="val 3639"/>
            </a:avLst>
          </a:prstGeom>
          <a:solidFill>
            <a:srgbClr val="B6D6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72" y="4335661"/>
            <a:ext cx="178222" cy="1425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2471" y="4301356"/>
            <a:ext cx="7539856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Avg. spend is nearly identical — subscribers $59.49 vs. non-subscribers $59.87. Subscription growth is a key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91083"/>
            <a:ext cx="370247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23702"/>
            <a:ext cx="3865959" cy="2164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505024"/>
            <a:ext cx="20949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Categories by Orders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59226" y="1893243"/>
            <a:ext cx="3865959" cy="2390924"/>
          </a:xfrm>
          <a:prstGeom prst="roundRect">
            <a:avLst>
              <a:gd name="adj" fmla="val 93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63988" y="1898005"/>
            <a:ext cx="3855988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914156" y="1992511"/>
            <a:ext cx="9836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01668" y="1992511"/>
            <a:ext cx="9812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#1 Product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86799" y="1992511"/>
            <a:ext cx="9836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#2 Product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63988" y="2326407"/>
            <a:ext cx="3855988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914156" y="2420913"/>
            <a:ext cx="9836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201668" y="2420913"/>
            <a:ext cx="9812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Blouse (171)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86799" y="2420913"/>
            <a:ext cx="9836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Pants (171)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63988" y="2754809"/>
            <a:ext cx="3855988" cy="6677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914156" y="2849314"/>
            <a:ext cx="9836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Accessories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01668" y="2849314"/>
            <a:ext cx="9812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Jewelry (171)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486799" y="2849314"/>
            <a:ext cx="98360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Sunglasses (161)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763988" y="3422600"/>
            <a:ext cx="3855988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914156" y="3517106"/>
            <a:ext cx="9836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Footwear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201668" y="3517106"/>
            <a:ext cx="9812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 (160)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486799" y="3517106"/>
            <a:ext cx="9836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Shoes (150)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763988" y="3851002"/>
            <a:ext cx="3855988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914156" y="3945508"/>
            <a:ext cx="9836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Outerwear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201668" y="3945508"/>
            <a:ext cx="9812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Jacket (163)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486799" y="3945508"/>
            <a:ext cx="9836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Coat (161)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55402"/>
            <a:ext cx="2970237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50" y="939701"/>
            <a:ext cx="6595765" cy="3542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050" y="4601914"/>
            <a:ext cx="8197900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 with filters for </a:t>
            </a:r>
            <a:pPr algn="l"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Subscription Status, Gender, Category,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Shipping Type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enabling drill-down across all key metrics.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12577"/>
            <a:ext cx="455146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951806"/>
            <a:ext cx="299219" cy="299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799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09799" y="231293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subscriber benefits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860" y="1951806"/>
            <a:ext cx="299219" cy="299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71081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71081" y="231293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grow the Loyal segment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6143" y="1951806"/>
            <a:ext cx="299219" cy="299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32364" y="2003227"/>
            <a:ext cx="189659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32364" y="231293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090937"/>
            <a:ext cx="299219" cy="2992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9799" y="314235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09799" y="345206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Young Adults and Express-shipping users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84860" y="3090937"/>
            <a:ext cx="299219" cy="29921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71081" y="314235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71081" y="345206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items in campaigns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2026-05-15T03:23:13Z</dcterms:created>
  <dcterms:modified xsi:type="dcterms:W3CDTF">2026-05-15T03:23:13Z</dcterms:modified>
</cp:coreProperties>
</file>